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OCEAN DEEP LEARNING &amp; SATELLITE ALTIMETRY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Satellite Embedding-Based Deep Learning Framework for Reconstruction of Depth-Wise Subsurface Ocean Temperature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End-to-End Vertical Thermal Structure Inversion across the North Indian Ocean (0–1000 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10058400" cy="13716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663440"/>
            <a:ext cx="9692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KEY METRICS &amp; EXPERIMENTAL PROTOCOL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Domain: North Indian Ocean (5°N–30°N, 45°E–105°E) | Grid: Canonical 0.25° × 0.25° (101 × 241 cells, 15 Depths)</a:t>
            </a:r>
            <a:br/>
            <a:r>
              <a:t>• Certified Test RMSE: 0.9800 °C (B8 Spatiotemporal Model) | Error Reduction vs. Climatology (B1): 22.11%</a:t>
            </a:r>
            <a:br/>
            <a:r>
              <a:t>• Controls: 6-Day Purge Buffers (Zero Leakage) | Train-Only Normalization | Strict Chronological 2020 Partition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SCIENTIFIC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Scientific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The Opacity Challenge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Seawater strongly absorbs electromagnetic radiation: satellite radiometers and scatterometers observe exclusively the skin and sub-skin (&lt;1 mm to a few cm).</a:t>
            </a:r>
            <a:br/>
            <a:br/>
            <a:r>
              <a:t>• The 3D subsurface thermal interior (&gt;10 m to 1000 m) is invisible to direct satellite remote sensing.</a:t>
            </a:r>
            <a:br/>
            <a:br/>
            <a:r>
              <a:t>• Subsurface temperature dictates ocean heat content, acoustic ducts, tropical cyclone intensification, and monsoon dynamics.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In-Situ Observational Sparsity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Autonomous Argo CTD profiling floats collect in-situ soundings only once every ~10 days per float.</a:t>
            </a:r>
            <a:br/>
            <a:br/>
            <a:r>
              <a:t>• Average spatial separation between floats is 300 km: insufficient for mesoscale eddy dynamics (&lt;100 km).</a:t>
            </a:r>
            <a:br/>
            <a:br/>
            <a:r>
              <a:t>• Research vessels and moored buoys (RAMA) offer sparse discrete points. A synoptic, continuous 3D field is physically unattainable from in-situ measurements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The Deep Learning Solution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Surface variables contain indirect hydrodynamic signatures of subsurface dynamics (SSH geostrophy, SST heating, SSS buoyancy, Ekman pumping).</a:t>
            </a:r>
            <a:br/>
            <a:br/>
            <a:r>
              <a:t>• Inversion via Spatiotemporal Embedding: Learn nonlinear mappings from 5-day causal multi-satellite patches to 15 discrete vertical temperature levels.</a:t>
            </a:r>
            <a:br/>
            <a:br/>
            <a:r>
              <a:t>• Provides daily, high-resolution (0.25°), synoptic 3D temperature fields across the full basin.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DATASET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Study Domain &amp; 7 Multi-Satellite Input Predictors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North Indian Ocean Domain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Spatial Bounding Box: 5.00°N to 30.00°N, 45.00°E to 105.00°E</a:t>
            </a:r>
            <a:br/>
            <a:r>
              <a:t>• Canonical Grid: 0.25° × 0.25° (101 lat × 241 lon = 24,341 horizontal cells)</a:t>
            </a:r>
            <a:br/>
            <a:r>
              <a:t>• Valid Ocean Sea Surface Cells: 16,076 cells</a:t>
            </a:r>
            <a:br/>
            <a:r>
              <a:t>• Active 3D Ocean-Depth Cells: 166,400 cells (GEBCO bathymetry cutoff enforced)</a:t>
            </a:r>
            <a:br/>
            <a:r>
              <a:t>• Temporal Extent: Full Year 2020 (366 consecutive calendar days, leap day verified)</a:t>
            </a:r>
            <a:br/>
            <a:r>
              <a:t>• 15 Target Depths: [0, 5, 10, 20, 30, 50, 75, 100, 125, 150, 200, 300, 500, 700, 1000] m</a:t>
            </a:r>
            <a:br/>
            <a:r>
              <a:t>• Target Reference: CMEMS GLORYS12V1 (1/12° daily reanalysis)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Harmonized Multi-Satellite Inputs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0" y="246888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280160"/>
                <a:gridCol w="164592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Source Product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Sensor Type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Physical Role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SST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OSTIA L4 Reprocessed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IR + Microwave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Upper boundary thermal constraint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SSS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Copernicus Multi-Obs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SMOS / In-situ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Salinity &amp; halocline buoyancy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SSH / SLA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DUACS Multi-Mission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Radar Altimeter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Baroclinic mode &amp; thermocline tilt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Current U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OSCAR Ocean Currents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Altimetry + Wind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Zonal geostrophic &amp; Ekman advection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Current V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OSCAR Ocean Currents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Altimetry + Wind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Meridional boundary currents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Wind U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CCMP V3.1 10m Wind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Radiom. + Scatterom.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Surface zonal shear stress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Wind V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CCMP V3.1 10m Wind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Radiom. + Scatterom.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Ekman pumping &amp; upwelling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RIGOROUS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Experimental Protocol &amp; Scientific Leakage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Strict Chronological Partitioning (Full-Year 2020 Calendar)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TRAIN SET (Days 1–245: Jan 1 – Sep 1)    |   PURGE 1 (Days 246–251)   |   VAL SET (Days 252–304: Sep 8 – Oct 30)   |   PURGE 2 (Days 305–310)   |   TEST SET (Days 311–366: Nov 6 – Dec 31)</a:t>
            </a:r>
            <a:br/>
            <a:r>
              <a:t>  245 Days (~67% of calendar)                   6-Day Purge Buffer                 53 Days (~14.5%)                         6-Day Purge Buffer                 56 Days (~15.3%)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✓ Temporal purge buffers (6 days) strictly exceed the 5-day causal input window: guarantees zero historical or future contamination across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383280" cy="283464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Train-Only Normalization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Mean &amp; standard deviation fitted strictly on training days (1–245).</a:t>
            </a:r>
            <a:br/>
            <a:r>
              <a:t>• Frozen statistics saved to JSON and applied to validation and test sets.</a:t>
            </a:r>
            <a:br/>
            <a:r>
              <a:t>• Absolutely zero data leakage from future evaluation periods.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474720"/>
            <a:ext cx="3383280" cy="283464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2. Causal Slicing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Predictions at day t use only past days: [t-4, t-3, t-2, t-1, t].</a:t>
            </a:r>
            <a:br/>
            <a:r>
              <a:t>• No forward temporal padding or centered filters.</a:t>
            </a:r>
            <a:br/>
            <a:r>
              <a:t>• Strictly mimics operational real-time forecasting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474720"/>
            <a:ext cx="3383280" cy="283464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6576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Bathymetric Cutoffs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Sub-seafloor cells strictly masked as NaN via GEBCO bathymetry.</a:t>
            </a:r>
            <a:br/>
            <a:r>
              <a:t>• Loss computed only on active ocean depths.</a:t>
            </a:r>
            <a:br/>
            <a:r>
              <a:t>• Prevents models from hallucinating temperature inside solid continental crust.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EXPERIMENTAL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Systematic Baseline Hierarchy Progression (B0 – B8)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Four-Tier Progression from Physical Baselines to Deep Spatiotemporal Networks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10332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377440"/>
                <a:gridCol w="2377440"/>
                <a:gridCol w="2194560"/>
              </a:tblGrid>
              <a:tr h="71323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Input Context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Key Scientific Hypothesis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Observed Outcome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Level 0</a:t>
                      </a:r>
                      <a:br/>
                      <a:r>
                        <a:t>Physical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B0: 1-Day Lag Persistence</a:t>
                      </a:r>
                      <a:br/>
                      <a:r>
                        <a:t>B0b: Day-252 Persistence</a:t>
                      </a:r>
                      <a:br/>
                      <a:r>
                        <a:t>B1: Daily Climatology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Target column history</a:t>
                      </a:r>
                      <a:br/>
                      <a:r>
                        <a:t>(No satellite features)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Tests whether ocean state is trivial or governed by static climatological cycles.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Climatology (1.2582 °C) outperforms persistence (1.5220 °C) over long evaluation horizons.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Level 1</a:t>
                      </a:r>
                      <a:br/>
                      <a:r>
                        <a:t>Tabular ML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B2: Ridge Regression</a:t>
                      </a:r>
                      <a:br/>
                      <a:r>
                        <a:t>B3: Random Forest</a:t>
                      </a:r>
                      <a:br/>
                      <a:r>
                        <a:t>B4: LightGBM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Pointwise surface 7-features (1x1 pixel, 1 day)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Tests whether linear/nonlinear surface-to-subsurface coupling beats climatology.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All tabular ML models beat B1 (~1.028–1.045 °C). Surface coupling is strong and real.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Level 2</a:t>
                      </a:r>
                      <a:br/>
                      <a:r>
                        <a:t>DL Ablations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B5: Pointwise MLP</a:t>
                      </a:r>
                      <a:br/>
                      <a:r>
                        <a:t>B6: Spatial CNN (3x3)</a:t>
                      </a:r>
                      <a:br/>
                      <a:r>
                        <a:t>B7: Temporal GRU (5-day)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Isolated spatial OR temporal context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Tests isolated spatial vs isolated temporal context in neural architectures.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Uncoupled DL suffers from overfitting (B5: 1.5524 °C, B7: 1.5320 °C). Spatial CNN (1.2702 °C) helps but lacks time.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Level 3</a:t>
                      </a:r>
                      <a:br/>
                      <a:r>
                        <a:t>Full DL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B8: Spatiotemporal Embedding Network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5-day causal window × 3x3 spatial patch × 7 vars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Tests joint spatiotemporal embedding and latent space inversion.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B8 achieves 0.9800 °C (22.11% gain vs B1, 4.74% gain vs B4). Spatiotemporal synergy is decisive.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DEEP LEARNING MODEL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B8 Spatiotemporal Architecture &amp; 128-D Latent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Stage 1: Spatial CNN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Input: Time-distributed 3 × 3 spatial patches with 7 surface channels.</a:t>
            </a:r>
            <a:br/>
            <a:br/>
            <a:r>
              <a:t>• Layer 1: Conv2D(7 → 32, kernel=3, pad=1)</a:t>
            </a:r>
            <a:br/>
            <a:r>
              <a:t>  + BatchNorm2D + ReLU</a:t>
            </a:r>
            <a:br/>
            <a:br/>
            <a:r>
              <a:t>• Layer 2: Conv2D(32 → 64, kernel=3, pad=1)</a:t>
            </a:r>
            <a:br/>
            <a:r>
              <a:t>  + BatchNorm2D + ReLU</a:t>
            </a:r>
            <a:br/>
            <a:br/>
            <a:r>
              <a:t>• AdaptiveAvgPool2D((1, 1))</a:t>
            </a:r>
            <a:br/>
            <a:br/>
            <a:r>
              <a:t>• Output: 64-dimensional spatial feature vector s_t for each day t ∈ {1..5}.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Stage 2: 2-Layer GRU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Input: Sequence of spatial vectors [s_1, s_2, s_3, s_4, s_5] ∈ ℝ^{5 × 64}.</a:t>
            </a:r>
            <a:br/>
            <a:br/>
            <a:r>
              <a:t>• Recurrent Core: 2-layer Gated Recurrent Unit (hidden_dim = 128, batch_first=True).</a:t>
            </a:r>
            <a:br/>
            <a:br/>
            <a:r>
              <a:t>• Gating captures baroclinic wave propagation and mixed-layer lag dynamics.</a:t>
            </a:r>
            <a:br/>
            <a:br/>
            <a:r>
              <a:t>• Latent Representation: Final hidden state h_5 ∈ ℝ^{128} serves as the compressed Ocean Embedding.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Stage 3: Depth Decoder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Input: 128-D Ocean Latent Vector.</a:t>
            </a:r>
            <a:br/>
            <a:br/>
            <a:r>
              <a:t>• Dense Layer 1: Linear(128 → 128)</a:t>
            </a:r>
            <a:br/>
            <a:r>
              <a:t>  + BatchNorm1D + ReLU + Dropout(0.1)</a:t>
            </a:r>
            <a:br/>
            <a:br/>
            <a:r>
              <a:t>• Dense Layer 2: Linear(128 → 64)</a:t>
            </a:r>
            <a:br/>
            <a:r>
              <a:t>  + BatchNorm1D + ReLU</a:t>
            </a:r>
            <a:br/>
            <a:br/>
            <a:r>
              <a:t>• Output Projection: Linear(64 → 15)</a:t>
            </a:r>
            <a:br/>
            <a:r>
              <a:t>  yielding predicted temperature profile across all 15 depths.</a:t>
            </a:r>
            <a:br/>
            <a:br/>
            <a:r>
              <a:t>• Total Model Parameters: 203,791 (0.81 MB memory footprint).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CERTIFIED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Master Benchmark Results &amp; Statistical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Independent Test Partition Evaluation (Days 311–366, Full Basin)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9456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463040"/>
                <a:gridCol w="1645920"/>
                <a:gridCol w="1645920"/>
                <a:gridCol w="1645920"/>
              </a:tblGrid>
              <a:tr h="34913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Model ID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Model Family / Description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Test RMSE (°C)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Gain vs B1 (%)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Protocol Status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1-Day Lag Persistence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1.5220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-20.97%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B0b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Day-252 Persistence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1.7287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-37.40%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Daily Mean Climatology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1.2582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Reference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Ridge Linear Regression (alpha=1.0)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1.0295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+18.18%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Random Forest Regressor (100 trees)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~850,000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1.0452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+16.93%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LightGBM Gradient Boosting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~320,000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1.0288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+18.23%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Pointwise MLP (3 Hidden Layers)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26,767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1.5524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-23.38%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Spatial CNN (3x3 Patches)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30,991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1.2702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-0.95%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Temporal GRU (5-Day Causal)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44,111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1.5320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-21.76%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</a:defRPr>
                      </a:pPr>
                      <a:r>
                        <a:t>Locked Baseline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04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Spatiotemporal Embedding Network</a:t>
                      </a:r>
                    </a:p>
                  </a:txBody>
                  <a:tcPr>
                    <a:solidFill>
                      <a:srgbClr val="104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203,791</a:t>
                      </a:r>
                    </a:p>
                  </a:txBody>
                  <a:tcPr>
                    <a:solidFill>
                      <a:srgbClr val="104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0.9800</a:t>
                      </a:r>
                    </a:p>
                  </a:txBody>
                  <a:tcPr>
                    <a:solidFill>
                      <a:srgbClr val="104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+22.11%</a:t>
                      </a:r>
                    </a:p>
                  </a:txBody>
                  <a:tcPr>
                    <a:solidFill>
                      <a:srgbClr val="104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BEST INTERNAL</a:t>
                      </a:r>
                    </a:p>
                  </a:txBody>
                  <a:tcPr>
                    <a:solidFill>
                      <a:srgbClr val="1044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PHYSICAL OCEANOGRAPHIC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Depth-Wise Stratification &amp; Thermocline Error Peak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Certified B8 Depth-Wise Test RMSE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4754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2011680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Depth (m)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B8 RMSE (°C)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Oceanographic Regime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0.4369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Surface Boundary Layer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5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0.4381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Epipelagic Mixed Layer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0.4635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Epipelagic Mixed Layer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20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0.5962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Mixed Layer Base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30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0.8607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Upper Thermocline Transition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50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1.3493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Main Thermocline Gradient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59E0B"/>
                          </a:solidFill>
                        </a:defRPr>
                      </a:pPr>
                      <a:r>
                        <a:t>75 m</a:t>
                      </a:r>
                    </a:p>
                  </a:txBody>
                  <a:tcPr>
                    <a:solidFill>
                      <a:srgbClr val="46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59E0B"/>
                          </a:solidFill>
                        </a:defRPr>
                      </a:pPr>
                      <a:r>
                        <a:t>1.8110</a:t>
                      </a:r>
                    </a:p>
                  </a:txBody>
                  <a:tcPr>
                    <a:solidFill>
                      <a:srgbClr val="46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59E0B"/>
                          </a:solidFill>
                        </a:defRPr>
                      </a:pPr>
                      <a:r>
                        <a:t>★ Peak Error (Max Stratification)</a:t>
                      </a:r>
                    </a:p>
                  </a:txBody>
                  <a:tcPr>
                    <a:solidFill>
                      <a:srgbClr val="46141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100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1.7651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Sub-Thermocline Shear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125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1.5022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Permanent Pycnocline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150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1.3650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Permanent Pycnocline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200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1.1834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Mesopelagic Transition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300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0.9845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Mesopelagic Zone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500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0.6870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Deep Quiescent Water Mass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700 m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0.6619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Deep Ocean</a:t>
                      </a:r>
                    </a:p>
                  </a:txBody>
                  <a:tcPr>
                    <a:solidFill>
                      <a:srgbClr val="132A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1000 m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0.5959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</a:defRPr>
                      </a:pPr>
                      <a:r>
                        <a:t>Deep Stable Ocean</a:t>
                      </a:r>
                    </a:p>
                  </a:txBody>
                  <a:tcPr>
                    <a:solidFill>
                      <a:srgbClr val="19345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Key Scientific Insights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Surface Anchoring (0–10 m: RMSE ~0.44 °C):</a:t>
            </a:r>
            <a:br/>
            <a:r>
              <a:t>   Satellite SST directly constrains epipelagic temperatures, yielding superior fidelity near the boundary.</a:t>
            </a:r>
            <a:br/>
            <a:br/>
            <a:r>
              <a:t>2. Thermocline Peak Variance (50–125 m: Peak 1.8110 °C at 75 m):</a:t>
            </a:r>
            <a:br/>
            <a:r>
              <a:t>   The thermocline exhibits steep vertical temperature gradients (dT/dz &gt; 0.1 °C/m) and energetic internal wave oscillations. Small vertical displacements translate to large thermal discrepancies.</a:t>
            </a:r>
            <a:br/>
            <a:br/>
            <a:r>
              <a:t>3. Deep Quiescent Stability (500–1000 m: RMSE ~0.60 °C):</a:t>
            </a:r>
            <a:br/>
            <a:r>
              <a:t>   Mesopelagic waters have low ambient thermal variance (σ &lt; 0.8 °C). The network accurately captures this stable baseline.</a:t>
            </a:r>
            <a:br/>
            <a:br/>
            <a:r>
              <a:t>4. Critical Reporting Requirement:</a:t>
            </a:r>
            <a:br/>
            <a:r>
              <a:t>   The overall 0.9800 °C is a column average. Stating 0.9800 °C uniformly across depths is scientifically invalid.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HYDRODYNAMIC HETEROGENEITY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Regional Basin &amp; Seasonal Performance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Regional Cosine-Latitude Weighted RMSE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Full Domain (NIO): 0.9642 °C</a:t>
            </a:r>
            <a:br/>
            <a:br/>
            <a:r>
              <a:t>• Arabian Sea (AS): 1.0907 °C</a:t>
            </a:r>
            <a:br/>
            <a:r>
              <a:t>  - Impacted by intense evaporative cooling, winter convective overturn, and vigorous eddy kinetic energy from the western boundary Somali current system.</a:t>
            </a:r>
            <a:br/>
            <a:br/>
            <a:r>
              <a:t>• Bay of Bengal (BoB): 0.6775 °C</a:t>
            </a:r>
            <a:br/>
            <a:r>
              <a:t>  - Significantly lower error due to massive Ganges-Brahmaputra river freshwater influx creating a strongly stratified 'barrier layer' that stabilizes upper-layer thermal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Certified Seasonal Test Subsets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Late Fall (Nov 6 – Nov 30): 1.0059 °C</a:t>
            </a:r>
            <a:br/>
            <a:r>
              <a:t>  - Post-monsoon transition characterized by retreating southwest monsoon currents and decaying anticyclonic eddies.</a:t>
            </a:r>
            <a:br/>
            <a:br/>
            <a:r>
              <a:t>• Early Winter (Dec 1 – Dec 31): 0.9060 °C</a:t>
            </a:r>
            <a:br/>
            <a:r>
              <a:t>  - Established Northeast Monsoon circulation with steady northeasterly wind stress and stable thermal stratification.</a:t>
            </a:r>
            <a:br/>
            <a:br/>
            <a:r>
              <a:t>• Reporting Boundary Disclosure:</a:t>
            </a:r>
            <a:br/>
            <a:r>
              <a:t>  - SW Monsoon and Pre-Monsoon occur entirely within the Training split (Days 1–245).</a:t>
            </a:r>
            <a:br/>
            <a:r>
              <a:t>  - In adherence to protocol, only Late Fall and Early Winter exist in the certified Test partition.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DEPLOYMENT &amp; SCIENTIFIC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Web Prototype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Frontend Architecture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Framework: React 18 with TypeScript and Vite bundling.</a:t>
            </a:r>
            <a:br/>
            <a:br/>
            <a:r>
              <a:t>• Styling: Tailwind CSS responsive utility layout with dark oceanic styling.</a:t>
            </a:r>
            <a:br/>
            <a:br/>
            <a:r>
              <a:t>• Charts: Interactive Recharts SVG rendering for depth profiles, soundings, and benchmark comparisons.</a:t>
            </a:r>
            <a:br/>
            <a:br/>
            <a:r>
              <a:t>• Decoupled Architecture: 100% client-side simulation running on local mock data (zero external API dependencies).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Interactive Features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Depth Sounding Slider: Real-time dynamic slicing across all 15 discrete ocean depths (0–1000 m).</a:t>
            </a:r>
            <a:br/>
            <a:br/>
            <a:r>
              <a:t>• Regional Basin Selector: Dynamic inspection of Full Domain, Arabian Sea, and Bay of Bengal metrics.</a:t>
            </a:r>
            <a:br/>
            <a:br/>
            <a:r>
              <a:t>• Model Comparison: Side-by-side reconstruction error inspection across B0–B8.</a:t>
            </a:r>
            <a:br/>
            <a:br/>
            <a:r>
              <a:t>• Profile Explorer: Simulated CTD vertical sounding curves comparing B8 predictions against reference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Live Deployment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Production URL:</a:t>
            </a:r>
            <a:br/>
            <a:r>
              <a:t>  https://code-gules-three.vercel.app</a:t>
            </a:r>
            <a:br/>
            <a:br/>
            <a:r>
              <a:t>• Global CDN: Deployed on Vercel with zero latency and edge caching.</a:t>
            </a:r>
            <a:br/>
            <a:br/>
            <a:r>
              <a:t>• Quality Assurance:</a:t>
            </a:r>
            <a:br/>
            <a:r>
              <a:t>  - 0 TypeScript compilation errors.</a:t>
            </a:r>
            <a:br/>
            <a:r>
              <a:t>  - Rigorous scientific labels: 'B0b Day-252 Persistence', 'PROTOTYPE • LOCAL SIMULATION'.</a:t>
            </a:r>
            <a:br/>
            <a:r>
              <a:t>  - Complete adherence to certified benchmark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Scientific Disclosures, Future Directions &amp;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Scientific Limitations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GLORYS Reanalysis Reference: Target is a numerical assimilation product, not direct in-situ ground truth.</a:t>
            </a:r>
            <a:br/>
            <a:br/>
            <a:r>
              <a:t>• Deep Ocean Variance: Low RMSE (&lt;0.7 °C) at 500–1000m reflects low ambient physical variance, not deeper penetration.</a:t>
            </a:r>
            <a:br/>
            <a:br/>
            <a:r>
              <a:t>• Single-Year Scope (2020): Models trained on 2020 may not fully generalize across decadal climate modes (IOD, ENSO).</a:t>
            </a:r>
            <a:br/>
            <a:br/>
            <a:r>
              <a:t>• Argo Assimilation: Standard Argo profiles are assimilated into GLORYS.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Future Directions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Decadal Pretraining: Scaling to multi-decade training (1993–2020) to capture interannual modes.</a:t>
            </a:r>
            <a:br/>
            <a:br/>
            <a:r>
              <a:t>• Withheld Float Validation: Evaluating against independently withheld Argo floats or dedicated research cruise CTDs.</a:t>
            </a:r>
            <a:br/>
            <a:br/>
            <a:r>
              <a:t>• Physical Inductive Biases: Incorporating hydrostatic balance, geostrophic constraints, and buoyancy loss functions into the neural architecture.</a:t>
            </a:r>
            <a:br/>
            <a:br/>
            <a:r>
              <a:t>• Foundation Ocean Model: Pretraining masked autoencoders on 3D reanalyses.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A45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Conclusion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B8 Spatiotemporal Embedding achieves 0.9800 °C overall test RMSE (22.11% gain vs climatology).</a:t>
            </a:r>
            <a:br/>
            <a:br/>
            <a:r>
              <a:t>• Spatial context + causal temporal memory is strictly necessary: uncoupled architectures fail to beat tabular baselines.</a:t>
            </a:r>
            <a:br/>
            <a:br/>
            <a:r>
              <a:t>• Complete scientific reproducibility achieved: 97/97 tests passing, zero data leakage, and interactive live UI prototype.</a:t>
            </a:r>
            <a:br/>
            <a:br/>
            <a:r>
              <a:t>• Ready for submission and academic defence.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